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5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0073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trabajo: análisis de la tienda virtual peruana Dunkelvolk para el curso de Comercio Electrónico de la URP.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 qué elegimos Dunkelvolk: marca peruana de 1996, ropa urbana de surf y skate, con tienda virtual propia sobre Shopify.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Auditoría UX de la tienda: siete problemas detectados y su mejora propuesta. El bug visible es el buscador superpuesto sobre el banner.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comunidad virtual elegida es Surf Place Perú en Facebook, con más de 31,500 miembros: reúne exactamente al público objetivo de Dunkelvolk.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Primeras dos fases de la estrategia: investigación de mercado con sondeos y encuestas, y contenido de valor ramificado a los canales de la marca.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Fases finales: programa de recompensas para captar leads, y CRM con email marketing para convertir y fidelizar al cliente.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Dunkelvolk tiene identidad sólida pero oportunidades claras de mejora; las propuestas de UX y la estrategia de comunidad capturan leads calificados a bajo costo.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30000">
                <a:srgbClr val="0A0A0A">
                  <a:alpha val="100000"/>
                </a:srgbClr>
              </a:gs>
              <a:gs pos="52000">
                <a:srgbClr val="0A0A0A">
                  <a:alpha val="72000"/>
                </a:srgbClr>
              </a:gs>
              <a:gs pos="100000">
                <a:srgbClr val="0A0A0A">
                  <a:alpha val="25000"/>
                </a:srgbClr>
              </a:gs>
            </a:gsLst>
            <a:lin ang="600000" scaled="0"/>
          </a:gra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47750" y="1143000"/>
            <a:ext cx="2190750" cy="1143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654040" y="1390650"/>
            <a:ext cx="158621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70000"/>
              </a:lnSpc>
              <a:buNone/>
            </a:pPr>
            <a:r>
              <a:rPr lang="en-US" sz="1500" b="1" kern="0" spc="27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LIMA · PERÚ </a:t>
            </a:r>
            <a:r>
              <a:rPr lang="en-US" sz="1500" b="1" kern="0" spc="270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1996</a:t>
            </a:r>
            <a:endParaRPr lang="en-US" sz="1500" dirty="0"/>
          </a:p>
        </p:txBody>
      </p:sp>
      <p:sp>
        <p:nvSpPr>
          <p:cNvPr id="7" name="Shape 3"/>
          <p:cNvSpPr/>
          <p:nvPr/>
        </p:nvSpPr>
        <p:spPr>
          <a:xfrm>
            <a:off x="1047750" y="2982962"/>
            <a:ext cx="38100" cy="24765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8" name="Text 4"/>
          <p:cNvSpPr/>
          <p:nvPr/>
        </p:nvSpPr>
        <p:spPr>
          <a:xfrm>
            <a:off x="1257300" y="2982962"/>
            <a:ext cx="704644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28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DE TIENDA VIRTUAL PERUANA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1047750" y="3554462"/>
            <a:ext cx="17811750" cy="1352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1250" b="1" kern="0" spc="-225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DUNKEL</a:t>
            </a:r>
            <a:r>
              <a:rPr lang="en-US" sz="11250" b="1" kern="0" spc="-225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VOLK</a:t>
            </a:r>
            <a:endParaRPr lang="en-US" sz="11250" dirty="0"/>
          </a:p>
        </p:txBody>
      </p:sp>
      <p:sp>
        <p:nvSpPr>
          <p:cNvPr id="10" name="Text 6"/>
          <p:cNvSpPr/>
          <p:nvPr/>
        </p:nvSpPr>
        <p:spPr>
          <a:xfrm>
            <a:off x="1047750" y="5154662"/>
            <a:ext cx="942975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Comercio Electrónico · Universidad Ricardo Palma</a:t>
            </a:r>
            <a:endParaRPr lang="en-US" sz="2550" dirty="0"/>
          </a:p>
        </p:txBody>
      </p:sp>
      <p:sp>
        <p:nvSpPr>
          <p:cNvPr id="11" name="Shape 7"/>
          <p:cNvSpPr/>
          <p:nvPr/>
        </p:nvSpPr>
        <p:spPr>
          <a:xfrm>
            <a:off x="1047750" y="6261050"/>
            <a:ext cx="16192500" cy="9525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12" name="Text 8"/>
          <p:cNvSpPr/>
          <p:nvPr/>
        </p:nvSpPr>
        <p:spPr>
          <a:xfrm>
            <a:off x="1047750" y="6556325"/>
            <a:ext cx="29032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216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INTEGRANTES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047750" y="6861125"/>
            <a:ext cx="2718498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Alarcón Romero, Rafael Solano Puell, Josué Villón Nieto, Piero</a:t>
            </a:r>
            <a:endParaRPr lang="en-US" sz="1875" dirty="0"/>
          </a:p>
        </p:txBody>
      </p:sp>
      <p:sp>
        <p:nvSpPr>
          <p:cNvPr id="14" name="Text 10"/>
          <p:cNvSpPr/>
          <p:nvPr/>
        </p:nvSpPr>
        <p:spPr>
          <a:xfrm>
            <a:off x="4296668" y="6556325"/>
            <a:ext cx="489561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216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PROFESOR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296668" y="6784925"/>
            <a:ext cx="489561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Iván Córdova</a:t>
            </a:r>
            <a:endParaRPr lang="en-US" sz="1875" dirty="0"/>
          </a:p>
        </p:txBody>
      </p:sp>
      <p:sp>
        <p:nvSpPr>
          <p:cNvPr id="16" name="Text 12"/>
          <p:cNvSpPr/>
          <p:nvPr/>
        </p:nvSpPr>
        <p:spPr>
          <a:xfrm>
            <a:off x="4296668" y="7280225"/>
            <a:ext cx="489561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216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296668" y="7508825"/>
            <a:ext cx="489561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Mercadotecnia y Comercio Electrónico</a:t>
            </a:r>
            <a:endParaRPr lang="en-US" sz="1875" dirty="0"/>
          </a:p>
        </p:txBody>
      </p:sp>
      <p:sp>
        <p:nvSpPr>
          <p:cNvPr id="18" name="Text 14"/>
          <p:cNvSpPr/>
          <p:nvPr/>
        </p:nvSpPr>
        <p:spPr>
          <a:xfrm>
            <a:off x="9356824" y="6556325"/>
            <a:ext cx="93553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216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9356824" y="6784925"/>
            <a:ext cx="9355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2026 - I</a:t>
            </a:r>
            <a:endParaRPr lang="en-US" sz="1875" dirty="0"/>
          </a:p>
        </p:txBody>
      </p:sp>
      <p:sp>
        <p:nvSpPr>
          <p:cNvPr id="20" name="Text 16"/>
          <p:cNvSpPr/>
          <p:nvPr/>
        </p:nvSpPr>
        <p:spPr>
          <a:xfrm>
            <a:off x="1047750" y="8896350"/>
            <a:ext cx="459798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363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MOVE. EXPLORE. </a:t>
            </a:r>
            <a:r>
              <a:rPr lang="en-US" sz="1650" b="1" kern="0" spc="363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CONNECT.</a:t>
            </a:r>
            <a:endParaRPr lang="en-US" sz="1650" dirty="0"/>
          </a:p>
        </p:txBody>
      </p:sp>
      <p:sp>
        <p:nvSpPr>
          <p:cNvPr id="21" name="Text 17"/>
          <p:cNvSpPr/>
          <p:nvPr/>
        </p:nvSpPr>
        <p:spPr>
          <a:xfrm>
            <a:off x="16599247" y="8896350"/>
            <a:ext cx="71720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r>
              <a:rPr lang="en-US" sz="165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07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14400"/>
            <a:ext cx="908186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20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TIENDA SELECCIONADA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47750" y="1323975"/>
            <a:ext cx="9081864" cy="766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5850" b="1" kern="0" spc="-58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Dunkelvolk?</a:t>
            </a:r>
            <a:endParaRPr lang="en-US" sz="5850" dirty="0"/>
          </a:p>
        </p:txBody>
      </p:sp>
      <p:sp>
        <p:nvSpPr>
          <p:cNvPr id="5" name="Shape 3"/>
          <p:cNvSpPr/>
          <p:nvPr/>
        </p:nvSpPr>
        <p:spPr>
          <a:xfrm>
            <a:off x="1047750" y="2509242"/>
            <a:ext cx="2637681" cy="1485900"/>
          </a:xfrm>
          <a:prstGeom prst="roundRect">
            <a:avLst>
              <a:gd name="adj" fmla="val 2564"/>
            </a:avLst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04925" y="2747367"/>
            <a:ext cx="2335664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5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1996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1304925" y="3261717"/>
            <a:ext cx="233566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Fundada en Lima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856881" y="2509242"/>
            <a:ext cx="2637830" cy="1485900"/>
          </a:xfrm>
          <a:prstGeom prst="roundRect">
            <a:avLst>
              <a:gd name="adj" fmla="val 2564"/>
            </a:avLst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056" y="2747367"/>
            <a:ext cx="233582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5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Shopify</a:t>
            </a:r>
            <a:endParaRPr lang="en-US" sz="3450" dirty="0"/>
          </a:p>
        </p:txBody>
      </p:sp>
      <p:sp>
        <p:nvSpPr>
          <p:cNvPr id="10" name="Text 8"/>
          <p:cNvSpPr/>
          <p:nvPr/>
        </p:nvSpPr>
        <p:spPr>
          <a:xfrm>
            <a:off x="4114056" y="3261717"/>
            <a:ext cx="219968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e-commerce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666161" y="2509242"/>
            <a:ext cx="2637830" cy="1485900"/>
          </a:xfrm>
          <a:prstGeom prst="roundRect">
            <a:avLst>
              <a:gd name="adj" fmla="val 2564"/>
            </a:avLst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23336" y="2747367"/>
            <a:ext cx="233582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5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Propia</a:t>
            </a:r>
            <a:endParaRPr lang="en-US" sz="3450" dirty="0"/>
          </a:p>
        </p:txBody>
      </p:sp>
      <p:sp>
        <p:nvSpPr>
          <p:cNvPr id="13" name="Text 11"/>
          <p:cNvSpPr/>
          <p:nvPr/>
        </p:nvSpPr>
        <p:spPr>
          <a:xfrm>
            <a:off x="6923336" y="3261717"/>
            <a:ext cx="233582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marketplace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47750" y="4423767"/>
            <a:ext cx="2672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10295" y="4395192"/>
            <a:ext cx="596120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Ropa urbana para </a:t>
            </a: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surf, skate, BMX y aventura</a:t>
            </a:r>
            <a:endParaRPr lang="en-US" sz="2025" dirty="0"/>
          </a:p>
        </p:txBody>
      </p:sp>
      <p:sp>
        <p:nvSpPr>
          <p:cNvPr id="16" name="Text 14"/>
          <p:cNvSpPr/>
          <p:nvPr/>
        </p:nvSpPr>
        <p:spPr>
          <a:xfrm>
            <a:off x="1047750" y="4928592"/>
            <a:ext cx="2672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0295" y="4900017"/>
            <a:ext cx="8130506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Tienda virtual propia en </a:t>
            </a: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dunkelvolk.com </a:t>
            </a:r>
            <a:r>
              <a:rPr lang="en-US" sz="2025" dirty="0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envíos a nivel nacional</a:t>
            </a:r>
            <a:endParaRPr lang="en-US" sz="2025" dirty="0"/>
          </a:p>
        </p:txBody>
      </p:sp>
      <p:sp>
        <p:nvSpPr>
          <p:cNvPr id="18" name="Text 16"/>
          <p:cNvSpPr/>
          <p:nvPr/>
        </p:nvSpPr>
        <p:spPr>
          <a:xfrm>
            <a:off x="1047750" y="5766792"/>
            <a:ext cx="2672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10295" y="5738217"/>
            <a:ext cx="733834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Categorías: </a:t>
            </a: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Ropa · Calzado · Accesorios · New Collection</a:t>
            </a:r>
            <a:endParaRPr lang="en-US" sz="2025" dirty="0"/>
          </a:p>
        </p:txBody>
      </p:sp>
      <p:sp>
        <p:nvSpPr>
          <p:cNvPr id="20" name="Text 18"/>
          <p:cNvSpPr/>
          <p:nvPr/>
        </p:nvSpPr>
        <p:spPr>
          <a:xfrm>
            <a:off x="1047750" y="6271617"/>
            <a:ext cx="2672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10295" y="6243042"/>
            <a:ext cx="576884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Eslogan de marca: </a:t>
            </a:r>
            <a:r>
              <a:rPr lang="en-US" sz="2025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"Move. Explore. Connect"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9875490" y="2977604"/>
            <a:ext cx="7650361" cy="3960168"/>
          </a:xfrm>
          <a:prstGeom prst="roundRect">
            <a:avLst>
              <a:gd name="adj" fmla="val 1924"/>
            </a:avLst>
          </a:prstGeom>
          <a:ln w="9525">
            <a:solidFill>
              <a:srgbClr val="2A2A2A"/>
            </a:solidFill>
            <a:prstDash val="solid"/>
          </a:ln>
          <a:effectLst>
            <a:outerShdw blurRad="666750" dist="285750" dir="54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885015" y="2987129"/>
            <a:ext cx="7631311" cy="3238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4" name="Shape 22"/>
          <p:cNvSpPr/>
          <p:nvPr/>
        </p:nvSpPr>
        <p:spPr>
          <a:xfrm>
            <a:off x="9885015" y="3301454"/>
            <a:ext cx="7631311" cy="9525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5" name="Shape 23"/>
          <p:cNvSpPr/>
          <p:nvPr/>
        </p:nvSpPr>
        <p:spPr>
          <a:xfrm>
            <a:off x="10037415" y="3091904"/>
            <a:ext cx="104775" cy="104775"/>
          </a:xfrm>
          <a:prstGeom prst="ellipse">
            <a:avLst/>
          </a:prstGeom>
          <a:solidFill>
            <a:srgbClr val="FF6B00"/>
          </a:solidFill>
          <a:ln/>
        </p:spPr>
      </p:sp>
      <p:sp>
        <p:nvSpPr>
          <p:cNvPr id="26" name="Shape 24"/>
          <p:cNvSpPr/>
          <p:nvPr/>
        </p:nvSpPr>
        <p:spPr>
          <a:xfrm>
            <a:off x="10218390" y="3091904"/>
            <a:ext cx="104775" cy="104775"/>
          </a:xfrm>
          <a:prstGeom prst="ellipse">
            <a:avLst/>
          </a:prstGeom>
          <a:solidFill>
            <a:srgbClr val="444444"/>
          </a:solidFill>
          <a:ln/>
        </p:spPr>
      </p:sp>
      <p:sp>
        <p:nvSpPr>
          <p:cNvPr id="27" name="Shape 25"/>
          <p:cNvSpPr/>
          <p:nvPr/>
        </p:nvSpPr>
        <p:spPr>
          <a:xfrm>
            <a:off x="10399365" y="3091904"/>
            <a:ext cx="104775" cy="104775"/>
          </a:xfrm>
          <a:prstGeom prst="ellipse">
            <a:avLst/>
          </a:prstGeom>
          <a:solidFill>
            <a:srgbClr val="44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10713690" y="3058567"/>
            <a:ext cx="107096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dunkelvolk.com</a:t>
            </a:r>
            <a:endParaRPr lang="en-US" sz="1050" dirty="0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5015" y="3310979"/>
            <a:ext cx="7631311" cy="3617268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9492972" y="7090172"/>
            <a:ext cx="841539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kern="0" spc="54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Homepage de dunkelvolk.com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17037397" y="9601200"/>
            <a:ext cx="71720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r>
              <a:rPr lang="en-US" sz="1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07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3" name="Text 1"/>
          <p:cNvSpPr/>
          <p:nvPr/>
        </p:nvSpPr>
        <p:spPr>
          <a:xfrm>
            <a:off x="857250" y="609600"/>
            <a:ext cx="976290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20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MEJORAS DE DISEÑO Y ESTRUCTURA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57250" y="962025"/>
            <a:ext cx="9762902" cy="579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435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Problemas identificados en la tienda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4704963" y="1208038"/>
            <a:ext cx="101128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51" dirty="0">
                <a:solidFill>
                  <a:srgbClr val="FF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Problema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15887700" y="1208038"/>
            <a:ext cx="169735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5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Mejora propuesta</a:t>
            </a:r>
            <a:endParaRPr lang="en-US" sz="1275" dirty="0"/>
          </a:p>
        </p:txBody>
      </p:sp>
      <p:sp>
        <p:nvSpPr>
          <p:cNvPr id="7" name="Shape 5"/>
          <p:cNvSpPr/>
          <p:nvPr/>
        </p:nvSpPr>
        <p:spPr>
          <a:xfrm>
            <a:off x="857250" y="1750963"/>
            <a:ext cx="16573500" cy="1042988"/>
          </a:xfrm>
          <a:prstGeom prst="roundRect">
            <a:avLst>
              <a:gd name="adj" fmla="val 5479"/>
            </a:avLst>
          </a:prstGeom>
          <a:solidFill>
            <a:srgbClr val="161616"/>
          </a:solidFill>
          <a:ln/>
        </p:spPr>
      </p:sp>
      <p:sp>
        <p:nvSpPr>
          <p:cNvPr id="8" name="Shape 6"/>
          <p:cNvSpPr/>
          <p:nvPr/>
        </p:nvSpPr>
        <p:spPr>
          <a:xfrm>
            <a:off x="857250" y="2784425"/>
            <a:ext cx="16573500" cy="9525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9" name="Shape 7"/>
          <p:cNvSpPr/>
          <p:nvPr/>
        </p:nvSpPr>
        <p:spPr>
          <a:xfrm>
            <a:off x="857250" y="1750963"/>
            <a:ext cx="16573500" cy="9525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0" name="Shape 8"/>
          <p:cNvSpPr/>
          <p:nvPr/>
        </p:nvSpPr>
        <p:spPr>
          <a:xfrm>
            <a:off x="857250" y="1750963"/>
            <a:ext cx="38100" cy="1042988"/>
          </a:xfrm>
          <a:prstGeom prst="rect">
            <a:avLst/>
          </a:prstGeom>
          <a:solidFill>
            <a:srgbClr val="FF5A5A"/>
          </a:solidFill>
          <a:ln/>
        </p:spPr>
      </p:sp>
      <p:sp>
        <p:nvSpPr>
          <p:cNvPr id="11" name="Shape 9"/>
          <p:cNvSpPr/>
          <p:nvPr/>
        </p:nvSpPr>
        <p:spPr>
          <a:xfrm>
            <a:off x="17421225" y="1750963"/>
            <a:ext cx="9525" cy="1042988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2" name="Text 10"/>
          <p:cNvSpPr/>
          <p:nvPr/>
        </p:nvSpPr>
        <p:spPr>
          <a:xfrm>
            <a:off x="1104900" y="1893838"/>
            <a:ext cx="157162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90" dirty="0">
                <a:solidFill>
                  <a:srgbClr val="FF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EN VIVO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1104900" y="2093863"/>
            <a:ext cx="1504950" cy="595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2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Buscador superpuesto sobre el banner</a:t>
            </a:r>
            <a:endParaRPr lang="en-US" sz="1125" dirty="0"/>
          </a:p>
        </p:txBody>
      </p:sp>
      <p:sp>
        <p:nvSpPr>
          <p:cNvPr id="14" name="Shape 12"/>
          <p:cNvSpPr/>
          <p:nvPr/>
        </p:nvSpPr>
        <p:spPr>
          <a:xfrm>
            <a:off x="2743200" y="1958132"/>
            <a:ext cx="14468475" cy="628650"/>
          </a:xfrm>
          <a:prstGeom prst="roundRect">
            <a:avLst>
              <a:gd name="adj" fmla="val 6061"/>
            </a:avLst>
          </a:prstGeom>
          <a:ln w="9525">
            <a:solidFill>
              <a:srgbClr val="2A2A2A"/>
            </a:solidFill>
            <a:prstDash val="solid"/>
          </a:ln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52725" y="1967657"/>
            <a:ext cx="14449425" cy="60960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857250" y="3003500"/>
            <a:ext cx="16573500" cy="9525"/>
          </a:xfrm>
          <a:prstGeom prst="rect">
            <a:avLst/>
          </a:prstGeom>
          <a:solidFill>
            <a:srgbClr val="232323"/>
          </a:solidFill>
          <a:ln/>
        </p:spPr>
      </p:sp>
      <p:sp>
        <p:nvSpPr>
          <p:cNvPr id="17" name="Text 14"/>
          <p:cNvSpPr/>
          <p:nvPr/>
        </p:nvSpPr>
        <p:spPr>
          <a:xfrm>
            <a:off x="857250" y="3155900"/>
            <a:ext cx="23187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FF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146274" y="3155900"/>
            <a:ext cx="7878261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buscador se superpone sobre el banner (conflicto de </a:t>
            </a: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z-index </a:t>
            </a:r>
            <a:r>
              <a:rPr lang="en-US" sz="16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CSS)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9296400" y="3155900"/>
            <a:ext cx="21892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9572476" y="3155900"/>
            <a:ext cx="589457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Fijar el search en el header, separado del hero banner</a:t>
            </a:r>
            <a:endParaRPr lang="en-US" sz="1650" dirty="0"/>
          </a:p>
        </p:txBody>
      </p:sp>
      <p:sp>
        <p:nvSpPr>
          <p:cNvPr id="21" name="Shape 18"/>
          <p:cNvSpPr/>
          <p:nvPr/>
        </p:nvSpPr>
        <p:spPr>
          <a:xfrm>
            <a:off x="857250" y="3581549"/>
            <a:ext cx="16573500" cy="9525"/>
          </a:xfrm>
          <a:prstGeom prst="rect">
            <a:avLst/>
          </a:prstGeom>
          <a:solidFill>
            <a:srgbClr val="232323"/>
          </a:solidFill>
          <a:ln/>
        </p:spPr>
      </p:sp>
      <p:sp>
        <p:nvSpPr>
          <p:cNvPr id="22" name="Text 19"/>
          <p:cNvSpPr/>
          <p:nvPr/>
        </p:nvSpPr>
        <p:spPr>
          <a:xfrm>
            <a:off x="857250" y="3733949"/>
            <a:ext cx="23187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FF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146274" y="3733949"/>
            <a:ext cx="503476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chat en vivo ni botón de WhatsApp visible</a:t>
            </a:r>
            <a:endParaRPr lang="en-US" sz="1650" dirty="0"/>
          </a:p>
        </p:txBody>
      </p:sp>
      <p:sp>
        <p:nvSpPr>
          <p:cNvPr id="24" name="Text 21"/>
          <p:cNvSpPr/>
          <p:nvPr/>
        </p:nvSpPr>
        <p:spPr>
          <a:xfrm>
            <a:off x="9296400" y="3733949"/>
            <a:ext cx="21892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9572476" y="3733949"/>
            <a:ext cx="4347835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Widget flotante de WhatsApp Business</a:t>
            </a:r>
            <a:endParaRPr lang="en-US" sz="1650" dirty="0"/>
          </a:p>
        </p:txBody>
      </p:sp>
      <p:sp>
        <p:nvSpPr>
          <p:cNvPr id="26" name="Shape 23"/>
          <p:cNvSpPr/>
          <p:nvPr/>
        </p:nvSpPr>
        <p:spPr>
          <a:xfrm>
            <a:off x="857250" y="4159597"/>
            <a:ext cx="16573500" cy="9525"/>
          </a:xfrm>
          <a:prstGeom prst="rect">
            <a:avLst/>
          </a:prstGeom>
          <a:solidFill>
            <a:srgbClr val="232323"/>
          </a:solidFill>
          <a:ln/>
        </p:spPr>
      </p:sp>
      <p:sp>
        <p:nvSpPr>
          <p:cNvPr id="27" name="Text 24"/>
          <p:cNvSpPr/>
          <p:nvPr/>
        </p:nvSpPr>
        <p:spPr>
          <a:xfrm>
            <a:off x="857250" y="4311997"/>
            <a:ext cx="23187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FF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1146274" y="4311997"/>
            <a:ext cx="7055778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/ MOVE / CONNECT enlazan al About Us, no a productos</a:t>
            </a:r>
            <a:endParaRPr lang="en-US" sz="1650" dirty="0"/>
          </a:p>
        </p:txBody>
      </p:sp>
      <p:sp>
        <p:nvSpPr>
          <p:cNvPr id="29" name="Text 26"/>
          <p:cNvSpPr/>
          <p:nvPr/>
        </p:nvSpPr>
        <p:spPr>
          <a:xfrm>
            <a:off x="9296400" y="4311997"/>
            <a:ext cx="21892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9572476" y="4311997"/>
            <a:ext cx="6946091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Redirigir cada sección a su colección con CTA "Comprar ahora"</a:t>
            </a:r>
            <a:endParaRPr lang="en-US" sz="1650" dirty="0"/>
          </a:p>
        </p:txBody>
      </p:sp>
      <p:sp>
        <p:nvSpPr>
          <p:cNvPr id="31" name="Shape 28"/>
          <p:cNvSpPr/>
          <p:nvPr/>
        </p:nvSpPr>
        <p:spPr>
          <a:xfrm>
            <a:off x="857250" y="4737646"/>
            <a:ext cx="16573500" cy="9525"/>
          </a:xfrm>
          <a:prstGeom prst="rect">
            <a:avLst/>
          </a:prstGeom>
          <a:solidFill>
            <a:srgbClr val="232323"/>
          </a:solidFill>
          <a:ln/>
        </p:spPr>
      </p:sp>
      <p:sp>
        <p:nvSpPr>
          <p:cNvPr id="32" name="Text 29"/>
          <p:cNvSpPr/>
          <p:nvPr/>
        </p:nvSpPr>
        <p:spPr>
          <a:xfrm>
            <a:off x="857250" y="4890046"/>
            <a:ext cx="23187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FF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1146274" y="4890046"/>
            <a:ext cx="3152745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wishlist (lista de deseos)</a:t>
            </a:r>
            <a:endParaRPr lang="en-US" sz="1650" dirty="0"/>
          </a:p>
        </p:txBody>
      </p:sp>
      <p:sp>
        <p:nvSpPr>
          <p:cNvPr id="34" name="Text 31"/>
          <p:cNvSpPr/>
          <p:nvPr/>
        </p:nvSpPr>
        <p:spPr>
          <a:xfrm>
            <a:off x="9296400" y="4890046"/>
            <a:ext cx="21892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9572476" y="4890046"/>
            <a:ext cx="6563008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Botón de corazón en cada producto para guardar favoritos</a:t>
            </a:r>
            <a:endParaRPr lang="en-US" sz="1650" dirty="0"/>
          </a:p>
        </p:txBody>
      </p:sp>
      <p:sp>
        <p:nvSpPr>
          <p:cNvPr id="36" name="Shape 33"/>
          <p:cNvSpPr/>
          <p:nvPr/>
        </p:nvSpPr>
        <p:spPr>
          <a:xfrm>
            <a:off x="857250" y="5315694"/>
            <a:ext cx="16573500" cy="9525"/>
          </a:xfrm>
          <a:prstGeom prst="rect">
            <a:avLst/>
          </a:prstGeom>
          <a:solidFill>
            <a:srgbClr val="232323"/>
          </a:solidFill>
          <a:ln/>
        </p:spPr>
      </p:sp>
      <p:sp>
        <p:nvSpPr>
          <p:cNvPr id="37" name="Text 34"/>
          <p:cNvSpPr/>
          <p:nvPr/>
        </p:nvSpPr>
        <p:spPr>
          <a:xfrm>
            <a:off x="857250" y="5468094"/>
            <a:ext cx="23187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FF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1146274" y="5468094"/>
            <a:ext cx="4691301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reseñas ni calificaciones de productos</a:t>
            </a:r>
            <a:endParaRPr lang="en-US" sz="1650" dirty="0"/>
          </a:p>
        </p:txBody>
      </p:sp>
      <p:sp>
        <p:nvSpPr>
          <p:cNvPr id="39" name="Text 36"/>
          <p:cNvSpPr/>
          <p:nvPr/>
        </p:nvSpPr>
        <p:spPr>
          <a:xfrm>
            <a:off x="9296400" y="5468094"/>
            <a:ext cx="21892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40" name="Text 37"/>
          <p:cNvSpPr/>
          <p:nvPr/>
        </p:nvSpPr>
        <p:spPr>
          <a:xfrm>
            <a:off x="9572476" y="5468094"/>
            <a:ext cx="4924752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Integrar un sistema de reviews por producto</a:t>
            </a:r>
            <a:endParaRPr lang="en-US" sz="1650" dirty="0"/>
          </a:p>
        </p:txBody>
      </p:sp>
      <p:sp>
        <p:nvSpPr>
          <p:cNvPr id="41" name="Shape 38"/>
          <p:cNvSpPr/>
          <p:nvPr/>
        </p:nvSpPr>
        <p:spPr>
          <a:xfrm>
            <a:off x="857250" y="6471791"/>
            <a:ext cx="16573500" cy="9525"/>
          </a:xfrm>
          <a:prstGeom prst="rect">
            <a:avLst/>
          </a:prstGeom>
          <a:solidFill>
            <a:srgbClr val="232323"/>
          </a:solidFill>
          <a:ln/>
        </p:spPr>
      </p:sp>
      <p:sp>
        <p:nvSpPr>
          <p:cNvPr id="42" name="Shape 39"/>
          <p:cNvSpPr/>
          <p:nvPr/>
        </p:nvSpPr>
        <p:spPr>
          <a:xfrm>
            <a:off x="857250" y="5893743"/>
            <a:ext cx="16573500" cy="9525"/>
          </a:xfrm>
          <a:prstGeom prst="rect">
            <a:avLst/>
          </a:prstGeom>
          <a:solidFill>
            <a:srgbClr val="232323"/>
          </a:solidFill>
          <a:ln/>
        </p:spPr>
      </p:sp>
      <p:sp>
        <p:nvSpPr>
          <p:cNvPr id="43" name="Text 40"/>
          <p:cNvSpPr/>
          <p:nvPr/>
        </p:nvSpPr>
        <p:spPr>
          <a:xfrm>
            <a:off x="857250" y="6046143"/>
            <a:ext cx="23187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FF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500" dirty="0"/>
          </a:p>
        </p:txBody>
      </p:sp>
      <p:sp>
        <p:nvSpPr>
          <p:cNvPr id="44" name="Text 41"/>
          <p:cNvSpPr/>
          <p:nvPr/>
        </p:nvSpPr>
        <p:spPr>
          <a:xfrm>
            <a:off x="1146274" y="6046143"/>
            <a:ext cx="3839349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sección de outfits combinados</a:t>
            </a:r>
            <a:endParaRPr lang="en-US" sz="1650" dirty="0"/>
          </a:p>
        </p:txBody>
      </p:sp>
      <p:sp>
        <p:nvSpPr>
          <p:cNvPr id="45" name="Text 42"/>
          <p:cNvSpPr/>
          <p:nvPr/>
        </p:nvSpPr>
        <p:spPr>
          <a:xfrm>
            <a:off x="9296400" y="6046143"/>
            <a:ext cx="21892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46" name="Text 43"/>
          <p:cNvSpPr/>
          <p:nvPr/>
        </p:nvSpPr>
        <p:spPr>
          <a:xfrm>
            <a:off x="9572476" y="6046143"/>
            <a:ext cx="7350621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"Completa tu look" con productos relacionados </a:t>
            </a: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(upselling)</a:t>
            </a:r>
            <a:endParaRPr lang="en-US" sz="1650" dirty="0"/>
          </a:p>
        </p:txBody>
      </p:sp>
      <p:sp>
        <p:nvSpPr>
          <p:cNvPr id="47" name="Text 44"/>
          <p:cNvSpPr/>
          <p:nvPr/>
        </p:nvSpPr>
        <p:spPr>
          <a:xfrm>
            <a:off x="17037397" y="9715500"/>
            <a:ext cx="71720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r>
              <a:rPr lang="en-US" sz="1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07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3" name="Shape 1"/>
          <p:cNvSpPr/>
          <p:nvPr/>
        </p:nvSpPr>
        <p:spPr>
          <a:xfrm>
            <a:off x="1047750" y="3246686"/>
            <a:ext cx="7254180" cy="3574405"/>
          </a:xfrm>
          <a:prstGeom prst="roundRect">
            <a:avLst>
              <a:gd name="adj" fmla="val 2132"/>
            </a:avLst>
          </a:prstGeom>
          <a:ln w="9525">
            <a:solidFill>
              <a:srgbClr val="2A2A2A"/>
            </a:solidFill>
            <a:prstDash val="solid"/>
          </a:ln>
          <a:effectLst>
            <a:outerShdw blurRad="666750" dist="285750" dir="5400000" algn="bl" rotWithShape="0">
              <a:srgbClr val="000000">
                <a:alpha val="55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275" y="3256211"/>
            <a:ext cx="7235130" cy="355535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041" y="6973491"/>
            <a:ext cx="797959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kern="0" spc="54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facebook.com/Surfplaceperu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9254430" y="2628305"/>
            <a:ext cx="878423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20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COMUNIDAD VIRTUAL IDENTIFICADA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254430" y="3018830"/>
            <a:ext cx="8784238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4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 Place Perú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9254430" y="4000946"/>
            <a:ext cx="2442567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+31,500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9254430" y="4648646"/>
            <a:ext cx="244256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miembros activos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1855946" y="4143821"/>
            <a:ext cx="9525" cy="6096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1" name="Text 8"/>
          <p:cNvSpPr/>
          <p:nvPr/>
        </p:nvSpPr>
        <p:spPr>
          <a:xfrm>
            <a:off x="12246471" y="4127599"/>
            <a:ext cx="2064395" cy="394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</a:t>
            </a:r>
            <a:endParaRPr lang="en-US" sz="2550" dirty="0"/>
          </a:p>
        </p:txBody>
      </p:sp>
      <p:sp>
        <p:nvSpPr>
          <p:cNvPr id="12" name="Text 9"/>
          <p:cNvSpPr/>
          <p:nvPr/>
        </p:nvSpPr>
        <p:spPr>
          <a:xfrm>
            <a:off x="12246471" y="4521845"/>
            <a:ext cx="206439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Tipo: Redes Sociales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9254430" y="5182046"/>
            <a:ext cx="878423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i="1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"Tu point fuera del mar: el sitio para la comunidad surfer del Perú."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9254430" y="5810696"/>
            <a:ext cx="7985671" cy="2000250"/>
          </a:xfrm>
          <a:prstGeom prst="roundRect">
            <a:avLst>
              <a:gd name="adj" fmla="val 2857"/>
            </a:avLst>
          </a:prstGeom>
          <a:solidFill>
            <a:srgbClr val="141414"/>
          </a:solidFill>
          <a:ln/>
        </p:spPr>
      </p:sp>
      <p:sp>
        <p:nvSpPr>
          <p:cNvPr id="15" name="Shape 12"/>
          <p:cNvSpPr/>
          <p:nvPr/>
        </p:nvSpPr>
        <p:spPr>
          <a:xfrm>
            <a:off x="9254430" y="7801421"/>
            <a:ext cx="7985671" cy="9525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6" name="Shape 13"/>
          <p:cNvSpPr/>
          <p:nvPr/>
        </p:nvSpPr>
        <p:spPr>
          <a:xfrm>
            <a:off x="9254430" y="5810696"/>
            <a:ext cx="7985671" cy="9525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7" name="Shape 14"/>
          <p:cNvSpPr/>
          <p:nvPr/>
        </p:nvSpPr>
        <p:spPr>
          <a:xfrm>
            <a:off x="9254430" y="5810696"/>
            <a:ext cx="38100" cy="200025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18" name="Shape 15"/>
          <p:cNvSpPr/>
          <p:nvPr/>
        </p:nvSpPr>
        <p:spPr>
          <a:xfrm>
            <a:off x="17230576" y="5810696"/>
            <a:ext cx="9525" cy="200025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9" name="Text 16"/>
          <p:cNvSpPr/>
          <p:nvPr/>
        </p:nvSpPr>
        <p:spPr>
          <a:xfrm>
            <a:off x="9578280" y="6067871"/>
            <a:ext cx="81032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68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JUSTIFICACIÓN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578280" y="6353621"/>
            <a:ext cx="7587542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ADN de Dunkelvolk es </a:t>
            </a: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 + skate + cultura urbana desde 1996 </a:t>
            </a:r>
            <a:r>
              <a:rPr lang="en-US" sz="1575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Surf Place Perú agrupa exactamente a ese público: jóvenes peruanos apasionados por el surf y los deportes de acción — ideal para investigar el mercado e impactar al consumidor potencial de la marca.</a:t>
            </a:r>
            <a:endParaRPr lang="en-US" sz="1575" dirty="0"/>
          </a:p>
        </p:txBody>
      </p:sp>
      <p:sp>
        <p:nvSpPr>
          <p:cNvPr id="21" name="Text 18"/>
          <p:cNvSpPr/>
          <p:nvPr/>
        </p:nvSpPr>
        <p:spPr>
          <a:xfrm>
            <a:off x="17037397" y="9601200"/>
            <a:ext cx="71720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r>
              <a:rPr lang="en-US" sz="1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07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685800"/>
            <a:ext cx="759618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20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ESTRATEGIA DE MARKETING DIGITAL · FASES 1–2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47750" y="1038225"/>
            <a:ext cx="7596187" cy="579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435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Estrategia en la Comunidad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2821120" y="1196727"/>
            <a:ext cx="4419130" cy="344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725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 Place Perú </a:t>
            </a:r>
            <a:r>
              <a:rPr lang="en-US" sz="1725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n-US" sz="1725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para Dunkelvolk</a:t>
            </a:r>
            <a:endParaRPr lang="en-US" sz="1725" dirty="0"/>
          </a:p>
        </p:txBody>
      </p:sp>
      <p:sp>
        <p:nvSpPr>
          <p:cNvPr id="6" name="Shape 4"/>
          <p:cNvSpPr/>
          <p:nvPr/>
        </p:nvSpPr>
        <p:spPr>
          <a:xfrm>
            <a:off x="1047750" y="2036713"/>
            <a:ext cx="7572375" cy="7640687"/>
          </a:xfrm>
          <a:prstGeom prst="roundRect">
            <a:avLst>
              <a:gd name="adj" fmla="val 1006"/>
            </a:avLst>
          </a:prstGeom>
          <a:solidFill>
            <a:srgbClr val="141414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57325" y="2465338"/>
            <a:ext cx="881509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5700" dirty="0"/>
          </a:p>
        </p:txBody>
      </p:sp>
      <p:sp>
        <p:nvSpPr>
          <p:cNvPr id="8" name="Text 6"/>
          <p:cNvSpPr/>
          <p:nvPr/>
        </p:nvSpPr>
        <p:spPr>
          <a:xfrm>
            <a:off x="2434084" y="2922538"/>
            <a:ext cx="260791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35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SONDEOS · ENCUESTAS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457325" y="3417838"/>
            <a:ext cx="7428548" cy="418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50" b="1" kern="0" spc="29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INVESTIGACIÓN DE MERCADO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1457325" y="4026396"/>
            <a:ext cx="6955822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25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Publicar sondeos y encuestas online dentro del grupo Surf Place Perú.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1457325" y="4988421"/>
            <a:ext cx="695582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"¿Qué ropa usas para ir a la playa?" "¿Qué te falta en una tienda de surf peruana?"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457325" y="8743950"/>
            <a:ext cx="6753225" cy="9525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1457325" y="8982075"/>
            <a:ext cx="695582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Objetivo: </a:t>
            </a:r>
            <a:r>
              <a:rPr lang="en-US" sz="16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 qué quiere el público antes de venderle.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8886825" y="2036713"/>
            <a:ext cx="590550" cy="7678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405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050" dirty="0"/>
          </a:p>
        </p:txBody>
      </p:sp>
      <p:sp>
        <p:nvSpPr>
          <p:cNvPr id="15" name="Shape 13"/>
          <p:cNvSpPr/>
          <p:nvPr/>
        </p:nvSpPr>
        <p:spPr>
          <a:xfrm>
            <a:off x="9667875" y="2036713"/>
            <a:ext cx="7572375" cy="7640687"/>
          </a:xfrm>
          <a:prstGeom prst="roundRect">
            <a:avLst>
              <a:gd name="adj" fmla="val 1006"/>
            </a:avLst>
          </a:prstGeom>
          <a:solidFill>
            <a:srgbClr val="141414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77450" y="2465338"/>
            <a:ext cx="881509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5700" dirty="0"/>
          </a:p>
        </p:txBody>
      </p:sp>
      <p:sp>
        <p:nvSpPr>
          <p:cNvPr id="17" name="Text 15"/>
          <p:cNvSpPr/>
          <p:nvPr/>
        </p:nvSpPr>
        <p:spPr>
          <a:xfrm>
            <a:off x="11054209" y="2922538"/>
            <a:ext cx="30537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35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RAMIFICACIÓN DE CANALES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0077450" y="3417838"/>
            <a:ext cx="7428548" cy="418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50" b="1" kern="0" spc="29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 DE VALOR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10077450" y="4026396"/>
            <a:ext cx="6955822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25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Tips de surf en Lima, spots y lookbooks con ropa Dunkelvolk en Surf Place Perú.</a:t>
            </a:r>
            <a:endParaRPr lang="en-US" sz="2025" dirty="0"/>
          </a:p>
        </p:txBody>
      </p:sp>
      <p:sp>
        <p:nvSpPr>
          <p:cNvPr id="20" name="Text 18"/>
          <p:cNvSpPr/>
          <p:nvPr/>
        </p:nvSpPr>
        <p:spPr>
          <a:xfrm>
            <a:off x="10077450" y="4988421"/>
            <a:ext cx="695582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Replicar simultáneamente en el </a:t>
            </a: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</a:t>
            </a:r>
            <a:r>
              <a:rPr lang="en-US" sz="18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</a:t>
            </a: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 </a:t>
            </a:r>
            <a:r>
              <a:rPr lang="en-US" sz="18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marca.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077450" y="8743950"/>
            <a:ext cx="6753225" cy="9525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10077450" y="8982075"/>
            <a:ext cx="695582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Objetivo: </a:t>
            </a:r>
            <a:r>
              <a:rPr lang="en-US" sz="16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ganar visibilidad y confianza de marca.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7037397" y="9715500"/>
            <a:ext cx="71720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r>
              <a:rPr lang="en-US" sz="1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07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685800"/>
            <a:ext cx="759618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20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ESTRATEGIA DE MARKETING DIGITAL · FASES 3–4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47750" y="1038225"/>
            <a:ext cx="7596187" cy="579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435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Lead a Cliente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3065776" y="1196727"/>
            <a:ext cx="4174474" cy="344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725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Captación </a:t>
            </a:r>
            <a:r>
              <a:rPr lang="en-US" sz="1725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n-US" sz="1725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Conversión y fidelización</a:t>
            </a:r>
            <a:endParaRPr lang="en-US" sz="1725" dirty="0"/>
          </a:p>
        </p:txBody>
      </p:sp>
      <p:sp>
        <p:nvSpPr>
          <p:cNvPr id="6" name="Shape 4"/>
          <p:cNvSpPr/>
          <p:nvPr/>
        </p:nvSpPr>
        <p:spPr>
          <a:xfrm>
            <a:off x="1047750" y="1960513"/>
            <a:ext cx="7572375" cy="6199436"/>
          </a:xfrm>
          <a:prstGeom prst="roundRect">
            <a:avLst>
              <a:gd name="adj" fmla="val 1229"/>
            </a:avLst>
          </a:prstGeom>
          <a:solidFill>
            <a:srgbClr val="141414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57325" y="2351038"/>
            <a:ext cx="839093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2391668" y="2779663"/>
            <a:ext cx="241113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35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CAPTACIÓN DE LEADS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457325" y="3246388"/>
            <a:ext cx="7428548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700" b="1" kern="0" spc="27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 DE RECOMPENSAS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457325" y="3815953"/>
            <a:ext cx="6955822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 en la comunidad: </a:t>
            </a: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"Únete al </a:t>
            </a:r>
            <a:r>
              <a:rPr lang="en-US" sz="195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Club Dunkelvolk </a:t>
            </a: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regístrate con tu correo y obtén 15% de descuento exclusivo".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457325" y="7283648"/>
            <a:ext cx="6753225" cy="9525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1457325" y="7502723"/>
            <a:ext cx="695582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Objetivo: </a:t>
            </a:r>
            <a:r>
              <a:rPr lang="en-US" sz="16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convertir miembros en leads registrados.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8886825" y="1960513"/>
            <a:ext cx="590550" cy="62375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405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050" dirty="0"/>
          </a:p>
        </p:txBody>
      </p:sp>
      <p:sp>
        <p:nvSpPr>
          <p:cNvPr id="14" name="Shape 12"/>
          <p:cNvSpPr/>
          <p:nvPr/>
        </p:nvSpPr>
        <p:spPr>
          <a:xfrm>
            <a:off x="9667875" y="1960513"/>
            <a:ext cx="7572375" cy="6199436"/>
          </a:xfrm>
          <a:prstGeom prst="roundRect">
            <a:avLst>
              <a:gd name="adj" fmla="val 1229"/>
            </a:avLst>
          </a:prstGeom>
          <a:solidFill>
            <a:srgbClr val="141414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77450" y="2351038"/>
            <a:ext cx="839093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11011793" y="2779663"/>
            <a:ext cx="272578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35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· EMAIL MARKETING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077450" y="3246388"/>
            <a:ext cx="7428548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700" b="1" kern="0" spc="27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CONVERSIÓN Y FIDELIZACIÓN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0077450" y="3815953"/>
            <a:ext cx="6955822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emails se gestionan en un CRM con correos personalizados según comportamiento: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0077450" y="4711303"/>
            <a:ext cx="6955822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25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bienvenida con descuento · recordatorio de carrito abandonado · ofertas por productos vistos.</a:t>
            </a:r>
            <a:endParaRPr lang="en-US" sz="1725" dirty="0"/>
          </a:p>
        </p:txBody>
      </p:sp>
      <p:sp>
        <p:nvSpPr>
          <p:cNvPr id="20" name="Shape 18"/>
          <p:cNvSpPr/>
          <p:nvPr/>
        </p:nvSpPr>
        <p:spPr>
          <a:xfrm>
            <a:off x="10077450" y="7283648"/>
            <a:ext cx="6753225" cy="9525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10077450" y="7502723"/>
            <a:ext cx="695582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Objetivo: </a:t>
            </a:r>
            <a:r>
              <a:rPr lang="en-US" sz="16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convertir el lead en cliente y fidelizarlo.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047750" y="8407598"/>
            <a:ext cx="16192500" cy="1269802"/>
          </a:xfrm>
          <a:prstGeom prst="roundRect">
            <a:avLst>
              <a:gd name="adj" fmla="val 4501"/>
            </a:avLst>
          </a:prstGeom>
          <a:solidFill>
            <a:srgbClr val="141414"/>
          </a:solidFill>
          <a:ln/>
        </p:spPr>
      </p:sp>
      <p:sp>
        <p:nvSpPr>
          <p:cNvPr id="23" name="Shape 21"/>
          <p:cNvSpPr/>
          <p:nvPr/>
        </p:nvSpPr>
        <p:spPr>
          <a:xfrm>
            <a:off x="1047750" y="9667875"/>
            <a:ext cx="16192500" cy="9525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4" name="Shape 22"/>
          <p:cNvSpPr/>
          <p:nvPr/>
        </p:nvSpPr>
        <p:spPr>
          <a:xfrm>
            <a:off x="1047750" y="8407598"/>
            <a:ext cx="16192500" cy="9525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5" name="Shape 23"/>
          <p:cNvSpPr/>
          <p:nvPr/>
        </p:nvSpPr>
        <p:spPr>
          <a:xfrm>
            <a:off x="1047750" y="8407598"/>
            <a:ext cx="38100" cy="126980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26" name="Shape 24"/>
          <p:cNvSpPr/>
          <p:nvPr/>
        </p:nvSpPr>
        <p:spPr>
          <a:xfrm>
            <a:off x="17230725" y="8407598"/>
            <a:ext cx="9525" cy="1269802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7" name="Text 25"/>
          <p:cNvSpPr/>
          <p:nvPr/>
        </p:nvSpPr>
        <p:spPr>
          <a:xfrm>
            <a:off x="1371600" y="8683823"/>
            <a:ext cx="157178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68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JUSTIFICACIÓN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990999" y="8607623"/>
            <a:ext cx="14372595" cy="907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75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 las herramientas de comunidades virtuales vistas en clase </a:t>
            </a: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(sondeos, encuestas, programa de recompensas) </a:t>
            </a:r>
            <a:r>
              <a:rPr lang="en-US" sz="1575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las estrategias de marketing digital del curso </a:t>
            </a: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(ramificación de canales, CRM, email marketing) </a:t>
            </a:r>
            <a:r>
              <a:rPr lang="en-US" sz="1575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generando leads calificados a bajo costo para la tienda virtual de Dunkelvolk.</a:t>
            </a:r>
            <a:endParaRPr lang="en-US" sz="1575" dirty="0"/>
          </a:p>
        </p:txBody>
      </p:sp>
      <p:sp>
        <p:nvSpPr>
          <p:cNvPr id="29" name="Text 27"/>
          <p:cNvSpPr/>
          <p:nvPr/>
        </p:nvSpPr>
        <p:spPr>
          <a:xfrm>
            <a:off x="17037397" y="9715500"/>
            <a:ext cx="71720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r>
              <a:rPr lang="en-US" sz="1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07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800100"/>
            <a:ext cx="578701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20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47750" y="1171575"/>
            <a:ext cx="5787018" cy="870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69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6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rcRect/>
          <a:stretch/>
        </p:blipFill>
        <p:spPr>
          <a:xfrm>
            <a:off x="15706725" y="1203871"/>
            <a:ext cx="1533525" cy="8001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47750" y="2461171"/>
            <a:ext cx="16192500" cy="9525"/>
          </a:xfrm>
          <a:prstGeom prst="rect">
            <a:avLst/>
          </a:prstGeom>
          <a:solidFill>
            <a:srgbClr val="232323"/>
          </a:solidFill>
          <a:ln/>
        </p:spPr>
      </p:sp>
      <p:sp>
        <p:nvSpPr>
          <p:cNvPr id="7" name="Text 4"/>
          <p:cNvSpPr/>
          <p:nvPr/>
        </p:nvSpPr>
        <p:spPr>
          <a:xfrm>
            <a:off x="1047750" y="2680246"/>
            <a:ext cx="495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1733550" y="2680246"/>
            <a:ext cx="15603944" cy="40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25" dirty="0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Dunkelvolk es una marca peruana con </a:t>
            </a: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identidad sólida</a:t>
            </a:r>
            <a:r>
              <a:rPr lang="en-US" sz="2025" dirty="0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pero con oportunidades claras de mejora en su e-commerce.</a:t>
            </a:r>
            <a:endParaRPr lang="en-US" sz="2025" dirty="0"/>
          </a:p>
        </p:txBody>
      </p:sp>
      <p:sp>
        <p:nvSpPr>
          <p:cNvPr id="9" name="Shape 6"/>
          <p:cNvSpPr/>
          <p:nvPr/>
        </p:nvSpPr>
        <p:spPr>
          <a:xfrm>
            <a:off x="1047750" y="3259336"/>
            <a:ext cx="16192500" cy="9525"/>
          </a:xfrm>
          <a:prstGeom prst="rect">
            <a:avLst/>
          </a:prstGeom>
          <a:solidFill>
            <a:srgbClr val="232323"/>
          </a:solidFill>
          <a:ln/>
        </p:spPr>
      </p:sp>
      <p:sp>
        <p:nvSpPr>
          <p:cNvPr id="10" name="Text 7"/>
          <p:cNvSpPr/>
          <p:nvPr/>
        </p:nvSpPr>
        <p:spPr>
          <a:xfrm>
            <a:off x="1047750" y="3478411"/>
            <a:ext cx="495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1733550" y="3478411"/>
            <a:ext cx="14009563" cy="40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25" dirty="0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mejoras de UX propuestas incrementarían la </a:t>
            </a: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tasa de conversión </a:t>
            </a:r>
            <a:r>
              <a:rPr lang="en-US" sz="2025" dirty="0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reducirían el abandono del carrito.</a:t>
            </a:r>
            <a:endParaRPr lang="en-US" sz="2025" dirty="0"/>
          </a:p>
        </p:txBody>
      </p:sp>
      <p:sp>
        <p:nvSpPr>
          <p:cNvPr id="12" name="Shape 9"/>
          <p:cNvSpPr/>
          <p:nvPr/>
        </p:nvSpPr>
        <p:spPr>
          <a:xfrm>
            <a:off x="1047750" y="4057501"/>
            <a:ext cx="16192500" cy="9525"/>
          </a:xfrm>
          <a:prstGeom prst="rect">
            <a:avLst/>
          </a:prstGeom>
          <a:solidFill>
            <a:srgbClr val="232323"/>
          </a:solidFill>
          <a:ln/>
        </p:spPr>
      </p:sp>
      <p:sp>
        <p:nvSpPr>
          <p:cNvPr id="13" name="Text 10"/>
          <p:cNvSpPr/>
          <p:nvPr/>
        </p:nvSpPr>
        <p:spPr>
          <a:xfrm>
            <a:off x="1047750" y="4276576"/>
            <a:ext cx="495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1733550" y="4276576"/>
            <a:ext cx="11105659" cy="40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25" dirty="0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 Place Perú es la comunidad virtual más </a:t>
            </a: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alineada al público objetivo </a:t>
            </a:r>
            <a:r>
              <a:rPr lang="en-US" sz="2025" dirty="0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marca.</a:t>
            </a:r>
            <a:endParaRPr lang="en-US" sz="2025" dirty="0"/>
          </a:p>
        </p:txBody>
      </p:sp>
      <p:sp>
        <p:nvSpPr>
          <p:cNvPr id="15" name="Shape 12"/>
          <p:cNvSpPr/>
          <p:nvPr/>
        </p:nvSpPr>
        <p:spPr>
          <a:xfrm>
            <a:off x="1047750" y="4855666"/>
            <a:ext cx="16192500" cy="9525"/>
          </a:xfrm>
          <a:prstGeom prst="rect">
            <a:avLst/>
          </a:prstGeom>
          <a:solidFill>
            <a:srgbClr val="232323"/>
          </a:solidFill>
          <a:ln/>
        </p:spPr>
      </p:sp>
      <p:sp>
        <p:nvSpPr>
          <p:cNvPr id="16" name="Text 13"/>
          <p:cNvSpPr/>
          <p:nvPr/>
        </p:nvSpPr>
        <p:spPr>
          <a:xfrm>
            <a:off x="1047750" y="5074741"/>
            <a:ext cx="495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1733550" y="5074741"/>
            <a:ext cx="10111442" cy="40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25" dirty="0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 + email marketing permite capturar </a:t>
            </a: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calificados a bajo costo</a:t>
            </a:r>
            <a:r>
              <a:rPr lang="en-US" sz="2025" dirty="0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25" dirty="0"/>
          </a:p>
        </p:txBody>
      </p:sp>
      <p:sp>
        <p:nvSpPr>
          <p:cNvPr id="18" name="Shape 15"/>
          <p:cNvSpPr/>
          <p:nvPr/>
        </p:nvSpPr>
        <p:spPr>
          <a:xfrm>
            <a:off x="1047750" y="6451997"/>
            <a:ext cx="16192500" cy="9525"/>
          </a:xfrm>
          <a:prstGeom prst="rect">
            <a:avLst/>
          </a:prstGeom>
          <a:solidFill>
            <a:srgbClr val="232323"/>
          </a:solidFill>
          <a:ln/>
        </p:spPr>
      </p:sp>
      <p:sp>
        <p:nvSpPr>
          <p:cNvPr id="19" name="Shape 16"/>
          <p:cNvSpPr/>
          <p:nvPr/>
        </p:nvSpPr>
        <p:spPr>
          <a:xfrm>
            <a:off x="1047750" y="5653832"/>
            <a:ext cx="16192500" cy="9525"/>
          </a:xfrm>
          <a:prstGeom prst="rect">
            <a:avLst/>
          </a:prstGeom>
          <a:solidFill>
            <a:srgbClr val="232323"/>
          </a:solidFill>
          <a:ln/>
        </p:spPr>
      </p:sp>
      <p:sp>
        <p:nvSpPr>
          <p:cNvPr id="20" name="Text 17"/>
          <p:cNvSpPr/>
          <p:nvPr/>
        </p:nvSpPr>
        <p:spPr>
          <a:xfrm>
            <a:off x="1047750" y="5872907"/>
            <a:ext cx="495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50" dirty="0"/>
          </a:p>
        </p:txBody>
      </p:sp>
      <p:sp>
        <p:nvSpPr>
          <p:cNvPr id="21" name="Text 18"/>
          <p:cNvSpPr/>
          <p:nvPr/>
        </p:nvSpPr>
        <p:spPr>
          <a:xfrm>
            <a:off x="1733550" y="5872907"/>
            <a:ext cx="15959033" cy="40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25" dirty="0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presupuesto ahorrado en investigación dentro de la comunidad puede </a:t>
            </a: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reinvertirse en nuevas estrategias </a:t>
            </a:r>
            <a:r>
              <a:rPr lang="en-US" sz="2025" dirty="0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marca.</a:t>
            </a:r>
            <a:endParaRPr lang="en-US" sz="2025" dirty="0"/>
          </a:p>
        </p:txBody>
      </p:sp>
      <p:sp>
        <p:nvSpPr>
          <p:cNvPr id="22" name="Text 19"/>
          <p:cNvSpPr/>
          <p:nvPr/>
        </p:nvSpPr>
        <p:spPr>
          <a:xfrm>
            <a:off x="1047750" y="9401175"/>
            <a:ext cx="418019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33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MOVE. EXPLORE. </a:t>
            </a:r>
            <a:r>
              <a:rPr lang="en-US" sz="1500" b="1" kern="0" spc="330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CONNECT.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6599247" y="9372600"/>
            <a:ext cx="71720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r>
              <a:rPr lang="en-US" sz="1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07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912</Words>
  <Application>Microsoft Office PowerPoint</Application>
  <PresentationFormat>Personalizado</PresentationFormat>
  <Paragraphs>138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alumno</cp:lastModifiedBy>
  <cp:revision>1</cp:revision>
  <dcterms:created xsi:type="dcterms:W3CDTF">2026-06-20T17:40:45Z</dcterms:created>
  <dcterms:modified xsi:type="dcterms:W3CDTF">2026-06-20T17:41:51Z</dcterms:modified>
</cp:coreProperties>
</file>